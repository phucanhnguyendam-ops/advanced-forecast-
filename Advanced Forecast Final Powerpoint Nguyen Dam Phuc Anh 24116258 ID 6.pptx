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5"/>
  </p:notesMasterIdLst>
  <p:sldIdLst>
    <p:sldId id="256" r:id="rId2"/>
    <p:sldId id="260" r:id="rId3"/>
    <p:sldId id="261" r:id="rId4"/>
    <p:sldId id="263" r:id="rId5"/>
    <p:sldId id="286" r:id="rId6"/>
    <p:sldId id="287" r:id="rId7"/>
    <p:sldId id="288" r:id="rId8"/>
    <p:sldId id="289" r:id="rId9"/>
    <p:sldId id="272" r:id="rId10"/>
    <p:sldId id="279" r:id="rId11"/>
    <p:sldId id="290" r:id="rId12"/>
    <p:sldId id="291" r:id="rId13"/>
    <p:sldId id="278" r:id="rId14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Light" panose="000004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AFF10B-D97B-4233-A62F-54690619B622}">
  <a:tblStyle styleId="{40AFF10B-D97B-4233-A62F-54690619B6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eb2014fdb4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eb2014fdb4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b205fd2b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eb205fd2b6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eb205fd2b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eb205fd2b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37DBED6A-A8D1-7B72-9230-6D9A2BCB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eb2014fdb4_1_48:notes">
            <a:extLst>
              <a:ext uri="{FF2B5EF4-FFF2-40B4-BE49-F238E27FC236}">
                <a16:creationId xmlns:a16="http://schemas.microsoft.com/office/drawing/2014/main" id="{39C33B5A-AE52-5095-BB9C-74612594C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eb2014fdb4_1_48:notes">
            <a:extLst>
              <a:ext uri="{FF2B5EF4-FFF2-40B4-BE49-F238E27FC236}">
                <a16:creationId xmlns:a16="http://schemas.microsoft.com/office/drawing/2014/main" id="{F5CCA24B-6AED-EE06-E230-8E8A9999C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083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A885DBD1-E449-CF40-FE12-529D771D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b205fd2b6_0_61:notes">
            <a:extLst>
              <a:ext uri="{FF2B5EF4-FFF2-40B4-BE49-F238E27FC236}">
                <a16:creationId xmlns:a16="http://schemas.microsoft.com/office/drawing/2014/main" id="{DBA523BD-11A0-F4CB-81E7-32DE8C9D4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eb205fd2b6_0_61:notes">
            <a:extLst>
              <a:ext uri="{FF2B5EF4-FFF2-40B4-BE49-F238E27FC236}">
                <a16:creationId xmlns:a16="http://schemas.microsoft.com/office/drawing/2014/main" id="{8A10DBA8-6975-3AE0-CA67-D66E48956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4817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E3BAA570-5E70-6663-4E07-2E8111D3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b205fd2b6_0_61:notes">
            <a:extLst>
              <a:ext uri="{FF2B5EF4-FFF2-40B4-BE49-F238E27FC236}">
                <a16:creationId xmlns:a16="http://schemas.microsoft.com/office/drawing/2014/main" id="{567F3215-673E-E566-17BE-E87AC4032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eb205fd2b6_0_61:notes">
            <a:extLst>
              <a:ext uri="{FF2B5EF4-FFF2-40B4-BE49-F238E27FC236}">
                <a16:creationId xmlns:a16="http://schemas.microsoft.com/office/drawing/2014/main" id="{22B46A43-D719-21AF-20A3-DE6B50516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0332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291B8F0F-C6BB-260A-18FF-AA0F7E7D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b205fd2b6_0_61:notes">
            <a:extLst>
              <a:ext uri="{FF2B5EF4-FFF2-40B4-BE49-F238E27FC236}">
                <a16:creationId xmlns:a16="http://schemas.microsoft.com/office/drawing/2014/main" id="{8BFE418C-61EC-FBBF-E230-26107F586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eb205fd2b6_0_61:notes">
            <a:extLst>
              <a:ext uri="{FF2B5EF4-FFF2-40B4-BE49-F238E27FC236}">
                <a16:creationId xmlns:a16="http://schemas.microsoft.com/office/drawing/2014/main" id="{A21D739E-7A44-91E1-1C08-1CFD75DDC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853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eb205fd2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eb205fd2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eb205fd2b6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eb205fd2b6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eb205fd2b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eb205fd2b6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771650" y="1043125"/>
            <a:ext cx="8648700" cy="3927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771650" y="1880125"/>
            <a:ext cx="8648700" cy="225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551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086950" y="5336075"/>
            <a:ext cx="8018100" cy="47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373700" y="1949438"/>
            <a:ext cx="9444600" cy="392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2005575" y="2808513"/>
            <a:ext cx="8180700" cy="263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CUSTOM_2">
    <p:bg>
      <p:bgPr>
        <a:solidFill>
          <a:schemeClr val="dk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771650" y="852300"/>
            <a:ext cx="8648700" cy="5153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780650" y="1351650"/>
            <a:ext cx="8638800" cy="17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9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ubTitle" idx="1"/>
          </p:nvPr>
        </p:nvSpPr>
        <p:spPr>
          <a:xfrm>
            <a:off x="1780650" y="3105150"/>
            <a:ext cx="86388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7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1780650" y="3635850"/>
            <a:ext cx="86388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023107" y="2391150"/>
            <a:ext cx="10145700" cy="3519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" name="Google Shape;65;p8"/>
          <p:cNvCxnSpPr/>
          <p:nvPr/>
        </p:nvCxnSpPr>
        <p:spPr>
          <a:xfrm>
            <a:off x="6095957" y="2619750"/>
            <a:ext cx="0" cy="308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023163" y="854263"/>
            <a:ext cx="10145700" cy="763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1"/>
          </p:nvPr>
        </p:nvSpPr>
        <p:spPr>
          <a:xfrm>
            <a:off x="1238077" y="2832975"/>
            <a:ext cx="4590300" cy="2781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2"/>
          </p:nvPr>
        </p:nvSpPr>
        <p:spPr>
          <a:xfrm>
            <a:off x="6375442" y="2832975"/>
            <a:ext cx="4590300" cy="2781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1023100" y="1790825"/>
            <a:ext cx="10145700" cy="4405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2" name="Google Shape;72;p9"/>
          <p:cNvCxnSpPr/>
          <p:nvPr/>
        </p:nvCxnSpPr>
        <p:spPr>
          <a:xfrm>
            <a:off x="4386525" y="2014360"/>
            <a:ext cx="0" cy="386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73;p9"/>
          <p:cNvCxnSpPr/>
          <p:nvPr/>
        </p:nvCxnSpPr>
        <p:spPr>
          <a:xfrm>
            <a:off x="7784600" y="2014360"/>
            <a:ext cx="0" cy="386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1023100" y="633475"/>
            <a:ext cx="10145700" cy="763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1200650" y="3297102"/>
            <a:ext cx="2981400" cy="24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2"/>
          </p:nvPr>
        </p:nvSpPr>
        <p:spPr>
          <a:xfrm>
            <a:off x="1200650" y="2152875"/>
            <a:ext cx="2981400" cy="9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3"/>
          </p:nvPr>
        </p:nvSpPr>
        <p:spPr>
          <a:xfrm>
            <a:off x="4599175" y="3297115"/>
            <a:ext cx="2981400" cy="24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4"/>
          </p:nvPr>
        </p:nvSpPr>
        <p:spPr>
          <a:xfrm>
            <a:off x="4599175" y="2152883"/>
            <a:ext cx="2981400" cy="9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5"/>
          </p:nvPr>
        </p:nvSpPr>
        <p:spPr>
          <a:xfrm>
            <a:off x="7997699" y="3297102"/>
            <a:ext cx="2981400" cy="24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6"/>
          </p:nvPr>
        </p:nvSpPr>
        <p:spPr>
          <a:xfrm>
            <a:off x="7997699" y="2152875"/>
            <a:ext cx="2981400" cy="9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TITLE_AND_TWO_COLUMNS_1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850650" y="477013"/>
            <a:ext cx="1049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1"/>
          </p:nvPr>
        </p:nvSpPr>
        <p:spPr>
          <a:xfrm>
            <a:off x="850650" y="2475885"/>
            <a:ext cx="5085300" cy="39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ubTitle" idx="2"/>
          </p:nvPr>
        </p:nvSpPr>
        <p:spPr>
          <a:xfrm>
            <a:off x="850650" y="1599588"/>
            <a:ext cx="5085300" cy="876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3"/>
          </p:nvPr>
        </p:nvSpPr>
        <p:spPr>
          <a:xfrm>
            <a:off x="6256000" y="2475869"/>
            <a:ext cx="5085300" cy="1390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ubTitle" idx="4"/>
          </p:nvPr>
        </p:nvSpPr>
        <p:spPr>
          <a:xfrm>
            <a:off x="6256000" y="1599588"/>
            <a:ext cx="5085300" cy="876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5"/>
          </p:nvPr>
        </p:nvSpPr>
        <p:spPr>
          <a:xfrm>
            <a:off x="6256000" y="4990462"/>
            <a:ext cx="5085300" cy="1390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subTitle" idx="6"/>
          </p:nvPr>
        </p:nvSpPr>
        <p:spPr>
          <a:xfrm>
            <a:off x="6256000" y="4114181"/>
            <a:ext cx="5085300" cy="876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rtificate">
  <p:cSld name="TITLE_AND_TWO_COLUMNS_1_2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850650" y="515200"/>
            <a:ext cx="1049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ubTitle" idx="1"/>
          </p:nvPr>
        </p:nvSpPr>
        <p:spPr>
          <a:xfrm>
            <a:off x="963188" y="5427788"/>
            <a:ext cx="3699000" cy="45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9pPr>
          </a:lstStyle>
          <a:p>
            <a:endParaRPr/>
          </a:p>
        </p:txBody>
      </p:sp>
      <p:cxnSp>
        <p:nvCxnSpPr>
          <p:cNvPr id="95" name="Google Shape;95;p11"/>
          <p:cNvCxnSpPr/>
          <p:nvPr/>
        </p:nvCxnSpPr>
        <p:spPr>
          <a:xfrm>
            <a:off x="1783800" y="3300300"/>
            <a:ext cx="862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96;p11"/>
          <p:cNvCxnSpPr/>
          <p:nvPr/>
        </p:nvCxnSpPr>
        <p:spPr>
          <a:xfrm>
            <a:off x="1319438" y="5885275"/>
            <a:ext cx="29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11"/>
          <p:cNvSpPr txBox="1">
            <a:spLocks noGrp="1"/>
          </p:cNvSpPr>
          <p:nvPr>
            <p:ph type="subTitle" idx="2"/>
          </p:nvPr>
        </p:nvSpPr>
        <p:spPr>
          <a:xfrm>
            <a:off x="963188" y="5885288"/>
            <a:ext cx="3699000" cy="45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3"/>
          </p:nvPr>
        </p:nvSpPr>
        <p:spPr>
          <a:xfrm>
            <a:off x="7529813" y="5427788"/>
            <a:ext cx="3699000" cy="45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9pPr>
          </a:lstStyle>
          <a:p>
            <a:endParaRPr/>
          </a:p>
        </p:txBody>
      </p:sp>
      <p:cxnSp>
        <p:nvCxnSpPr>
          <p:cNvPr id="99" name="Google Shape;99;p11"/>
          <p:cNvCxnSpPr/>
          <p:nvPr/>
        </p:nvCxnSpPr>
        <p:spPr>
          <a:xfrm>
            <a:off x="7886063" y="5885275"/>
            <a:ext cx="29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1"/>
          <p:cNvSpPr txBox="1">
            <a:spLocks noGrp="1"/>
          </p:cNvSpPr>
          <p:nvPr>
            <p:ph type="subTitle" idx="4"/>
          </p:nvPr>
        </p:nvSpPr>
        <p:spPr>
          <a:xfrm>
            <a:off x="7529813" y="5885288"/>
            <a:ext cx="3699000" cy="45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subTitle" idx="5"/>
          </p:nvPr>
        </p:nvSpPr>
        <p:spPr>
          <a:xfrm>
            <a:off x="3124958" y="4658763"/>
            <a:ext cx="5942100" cy="45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i="1"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 idx="6"/>
          </p:nvPr>
        </p:nvSpPr>
        <p:spPr>
          <a:xfrm>
            <a:off x="2252850" y="3972088"/>
            <a:ext cx="7686300" cy="68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subTitle" idx="7"/>
          </p:nvPr>
        </p:nvSpPr>
        <p:spPr>
          <a:xfrm>
            <a:off x="3124958" y="3514588"/>
            <a:ext cx="5942100" cy="45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8"/>
          </p:nvPr>
        </p:nvSpPr>
        <p:spPr>
          <a:xfrm>
            <a:off x="1783800" y="2538013"/>
            <a:ext cx="862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15650" y="389867"/>
            <a:ext cx="11360700" cy="763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_COLUMN_TEXT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560825" y="534375"/>
            <a:ext cx="5432400" cy="5855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6"/>
          <p:cNvSpPr>
            <a:spLocks noGrp="1"/>
          </p:cNvSpPr>
          <p:nvPr>
            <p:ph type="pic" idx="2"/>
          </p:nvPr>
        </p:nvSpPr>
        <p:spPr>
          <a:xfrm>
            <a:off x="6342475" y="0"/>
            <a:ext cx="5508600" cy="685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768450" y="884175"/>
            <a:ext cx="5021100" cy="2799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8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768450" y="3683375"/>
            <a:ext cx="5021100" cy="251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sz="3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●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○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■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●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○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■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●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○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■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9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1771650" y="5315900"/>
            <a:ext cx="8648700" cy="466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7" name="Google Shape;177;p23"/>
          <p:cNvSpPr txBox="1">
            <a:spLocks noGrp="1"/>
          </p:cNvSpPr>
          <p:nvPr>
            <p:ph type="ctrTitle"/>
          </p:nvPr>
        </p:nvSpPr>
        <p:spPr>
          <a:xfrm>
            <a:off x="1771650" y="1880125"/>
            <a:ext cx="8648700" cy="225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buSzPts val="990"/>
            </a:pPr>
            <a:r>
              <a:rPr lang="en-US" dirty="0"/>
              <a:t>Forecasting Analysis Report</a:t>
            </a:r>
            <a:br>
              <a:rPr lang="en-US" dirty="0"/>
            </a:br>
            <a:r>
              <a:rPr lang="en-US" sz="3600" dirty="0"/>
              <a:t>Sample : MRTSSM4441USN</a:t>
            </a:r>
            <a:endParaRPr dirty="0"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1"/>
          </p:nvPr>
        </p:nvSpPr>
        <p:spPr>
          <a:xfrm>
            <a:off x="2086950" y="5336075"/>
            <a:ext cx="8018100" cy="47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Nguyen Dam Phuc Anh, ID: 24116258</a:t>
            </a:r>
            <a:endParaRPr dirty="0"/>
          </a:p>
        </p:txBody>
      </p:sp>
      <p:sp>
        <p:nvSpPr>
          <p:cNvPr id="179" name="Google Shape;179;p23"/>
          <p:cNvSpPr/>
          <p:nvPr/>
        </p:nvSpPr>
        <p:spPr>
          <a:xfrm>
            <a:off x="9952650" y="5315900"/>
            <a:ext cx="467700" cy="46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10103976" y="5416413"/>
            <a:ext cx="165049" cy="277785"/>
          </a:xfrm>
          <a:custGeom>
            <a:avLst/>
            <a:gdLst/>
            <a:ahLst/>
            <a:cxnLst/>
            <a:rect l="l" t="t" r="r" b="b"/>
            <a:pathLst>
              <a:path w="90314" h="152003" extrusionOk="0">
                <a:moveTo>
                  <a:pt x="9837" y="1"/>
                </a:moveTo>
                <a:cubicBezTo>
                  <a:pt x="7328" y="-28"/>
                  <a:pt x="4818" y="915"/>
                  <a:pt x="2915" y="2794"/>
                </a:cubicBezTo>
                <a:cubicBezTo>
                  <a:pt x="-931" y="6550"/>
                  <a:pt x="-971" y="12691"/>
                  <a:pt x="2794" y="16533"/>
                </a:cubicBezTo>
                <a:lnTo>
                  <a:pt x="62827" y="77919"/>
                </a:lnTo>
                <a:lnTo>
                  <a:pt x="4008" y="135297"/>
                </a:lnTo>
                <a:cubicBezTo>
                  <a:pt x="162" y="139050"/>
                  <a:pt x="122" y="145191"/>
                  <a:pt x="3887" y="149032"/>
                </a:cubicBezTo>
                <a:cubicBezTo>
                  <a:pt x="7611" y="152874"/>
                  <a:pt x="13764" y="153028"/>
                  <a:pt x="17610" y="149275"/>
                </a:cubicBezTo>
                <a:lnTo>
                  <a:pt x="90314" y="78162"/>
                </a:lnTo>
                <a:lnTo>
                  <a:pt x="16638" y="2915"/>
                </a:lnTo>
                <a:cubicBezTo>
                  <a:pt x="14776" y="996"/>
                  <a:pt x="12307" y="25"/>
                  <a:pt x="98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>
            <a:spLocks noGrp="1"/>
          </p:cNvSpPr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dirty="0"/>
              <a:t>1) Introduction &amp; Objective</a:t>
            </a:r>
            <a:endParaRPr dirty="0"/>
          </a:p>
        </p:txBody>
      </p:sp>
      <p:sp>
        <p:nvSpPr>
          <p:cNvPr id="235" name="Google Shape;235;p27"/>
          <p:cNvSpPr txBox="1">
            <a:spLocks noGrp="1"/>
          </p:cNvSpPr>
          <p:nvPr>
            <p:ph type="body" idx="1"/>
          </p:nvPr>
        </p:nvSpPr>
        <p:spPr>
          <a:xfrm>
            <a:off x="2005575" y="2148840"/>
            <a:ext cx="8180700" cy="329487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20000"/>
          </a:bodyPr>
          <a:lstStyle/>
          <a:p>
            <a:r>
              <a:rPr lang="en-US" sz="2000" dirty="0"/>
              <a:t>A strategic business plan relies on accurate forecasts as the key to effective resource allocation, risk management, and decision-making.</a:t>
            </a:r>
          </a:p>
          <a:p>
            <a:endParaRPr lang="en-US" sz="2000" dirty="0"/>
          </a:p>
          <a:p>
            <a:r>
              <a:rPr lang="en-US" sz="2000" dirty="0"/>
              <a:t>To meet this need, an econometric analysis was conducted to identify the most reliable model for predicting future sales.</a:t>
            </a:r>
          </a:p>
          <a:p>
            <a:endParaRPr lang="en-US" sz="2000" dirty="0"/>
          </a:p>
          <a:p>
            <a:r>
              <a:rPr lang="en-US" sz="2000" dirty="0"/>
              <a:t>This report documents the statistical foundation of the projections using time series forecasting methods, beginning with an overview of the data, methodology, and the three forecasting models evaluated.</a:t>
            </a:r>
          </a:p>
          <a:p>
            <a:pPr marL="342900" lvl="0" indent="-342900">
              <a:buFont typeface="Wingdings" panose="05000000000000000000" pitchFamily="2" charset="2"/>
              <a:buChar char="à"/>
            </a:pP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>
            <a:spLocks noGrp="1"/>
          </p:cNvSpPr>
          <p:nvPr>
            <p:ph type="body" idx="1"/>
          </p:nvPr>
        </p:nvSpPr>
        <p:spPr>
          <a:xfrm>
            <a:off x="832457" y="874134"/>
            <a:ext cx="5021100" cy="560803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>
              <a:buClr>
                <a:srgbClr val="000000"/>
              </a:buClr>
              <a:buSzPts val="1900"/>
              <a:buNone/>
            </a:pPr>
            <a:r>
              <a:rPr lang="en-US" sz="3900" b="1" dirty="0">
                <a:latin typeface="Poppins" panose="00000500000000000000" pitchFamily="2" charset="0"/>
                <a:cs typeface="Poppins" panose="00000500000000000000" pitchFamily="2" charset="0"/>
              </a:rPr>
              <a:t>2) Data overview</a:t>
            </a:r>
          </a:p>
          <a:p>
            <a:pPr marL="285750" lvl="0" indent="-285750">
              <a:buClr>
                <a:srgbClr val="000000"/>
              </a:buClr>
              <a:buSzPts val="1900"/>
              <a:buFontTx/>
              <a:buChar char="-"/>
            </a:pPr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This is the graph of the data on </a:t>
            </a:r>
            <a:r>
              <a:rPr lang="en-US" sz="1400" i="1" dirty="0">
                <a:latin typeface="Poppins Light" panose="00000400000000000000" pitchFamily="2" charset="0"/>
                <a:cs typeface="Poppins Light" panose="00000400000000000000" pitchFamily="2" charset="0"/>
              </a:rPr>
              <a:t>Retail Sales: Building Materials and Supplies Dealers</a:t>
            </a:r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 from the U.S. Census Bureau, spanning January 1992 to July 2025.</a:t>
            </a:r>
          </a:p>
          <a:p>
            <a:pPr marL="0" lvl="0" indent="0">
              <a:buClr>
                <a:srgbClr val="000000"/>
              </a:buClr>
              <a:buSzPts val="1900"/>
              <a:buNone/>
            </a:pPr>
            <a:endParaRPr lang="en-US" sz="14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lvl="0" indent="-285750">
              <a:buClr>
                <a:srgbClr val="000000"/>
              </a:buClr>
              <a:buSzPts val="1900"/>
              <a:buFontTx/>
              <a:buChar char="-"/>
            </a:pPr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It illustrates a long-term upward trend in retail sales, showing peaks and troughs through out the period.</a:t>
            </a:r>
          </a:p>
          <a:p>
            <a:pPr marL="285750" lvl="0" indent="-285750">
              <a:buClr>
                <a:srgbClr val="000000"/>
              </a:buClr>
              <a:buSzPts val="1900"/>
              <a:buFontTx/>
              <a:buChar char="-"/>
            </a:pPr>
            <a:endParaRPr lang="en-US" sz="14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lvl="0" indent="-285750">
              <a:buClr>
                <a:srgbClr val="000000"/>
              </a:buClr>
              <a:buSzPts val="1900"/>
              <a:buFontTx/>
              <a:buChar char="-"/>
            </a:pPr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The data demonstrate strong resilience during the COVID-19 period (2020–2021), experiencing only a brief dip before reaching new highs.</a:t>
            </a:r>
          </a:p>
          <a:p>
            <a:pPr marL="457200" lvl="1" indent="0">
              <a:buClr>
                <a:srgbClr val="000000"/>
              </a:buClr>
              <a:buSzPts val="1900"/>
              <a:buNone/>
            </a:pPr>
            <a:endParaRPr lang="en-US" sz="14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Clr>
                <a:srgbClr val="000000"/>
              </a:buClr>
              <a:buSzPts val="1900"/>
              <a:buFontTx/>
              <a:buChar char="-"/>
            </a:pPr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The analysis period (July 2020 – July 2025) was chosen to capture the post-pandemic recovery phase, providing a more representative view of current market dynamics.</a:t>
            </a:r>
          </a:p>
          <a:p>
            <a:pPr marL="285750" lvl="0" indent="-285750">
              <a:buClr>
                <a:srgbClr val="000000"/>
              </a:buClr>
              <a:buSzPts val="1900"/>
              <a:buFontTx/>
              <a:buChar char="-"/>
            </a:pPr>
            <a:endParaRPr lang="en-US" sz="14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lvl="0" indent="-285750">
              <a:buClr>
                <a:srgbClr val="000000"/>
              </a:buClr>
              <a:buSzPts val="1900"/>
              <a:buFontTx/>
              <a:buChar char="-"/>
            </a:pPr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The h-steps ahead WS forecast are 6.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18DFE36-ECE3-229F-0CCB-2D101B96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189"/>
            <a:ext cx="5872780" cy="3063550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D6B810E-62ED-8F06-FCFD-F21774139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46966"/>
            <a:ext cx="5992659" cy="28980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E3D06F-2111-2AF2-1A44-1643F2831E30}"/>
              </a:ext>
            </a:extLst>
          </p:cNvPr>
          <p:cNvSpPr txBox="1"/>
          <p:nvPr/>
        </p:nvSpPr>
        <p:spPr>
          <a:xfrm>
            <a:off x="6155939" y="3148780"/>
            <a:ext cx="2193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Period: 2020:07–2025:07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D1E66-3BD0-15D9-DAA4-76A33A7A83FA}"/>
              </a:ext>
            </a:extLst>
          </p:cNvPr>
          <p:cNvSpPr txBox="1"/>
          <p:nvPr/>
        </p:nvSpPr>
        <p:spPr>
          <a:xfrm>
            <a:off x="6155939" y="6265502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Period: 1992:07–2025:07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044A7F-A158-CBB0-DC13-ADD4D879A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collaboration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dirty="0"/>
              <a:t>3.1) The three models used.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1023100" y="3187387"/>
            <a:ext cx="3404869" cy="29274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 algn="l"/>
            <a:r>
              <a:rPr lang="en-US" dirty="0"/>
              <a:t>The ES model assigns greater weight to recent data, smoothing random variation and capturing short-term trends. However, it fails to fully reflect the five-month cyclical pattern, causing higher forecast errors compared to the Metronome model.</a:t>
            </a:r>
            <a:endParaRPr dirty="0"/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SzPts val="852"/>
              <a:buNone/>
            </a:pP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ES Smoothing Model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30"/>
          <p:cNvSpPr txBox="1">
            <a:spLocks noGrp="1"/>
          </p:cNvSpPr>
          <p:nvPr>
            <p:ph type="body" idx="3"/>
          </p:nvPr>
        </p:nvSpPr>
        <p:spPr>
          <a:xfrm>
            <a:off x="4346375" y="3123543"/>
            <a:ext cx="3486999" cy="31642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 algn="l"/>
            <a:r>
              <a:rPr lang="en-US" dirty="0"/>
              <a:t>A widely-used statistical model that identifies and forecasts patterns based solely on </a:t>
            </a:r>
            <a:r>
              <a:rPr lang="en-US"/>
              <a:t>a time series </a:t>
            </a:r>
            <a:r>
              <a:rPr lang="en-US" dirty="0"/>
              <a:t>own historical data. It analyzes relationships between a value and its past values, as well as its past forecast errors, to make predictions.</a:t>
            </a:r>
          </a:p>
        </p:txBody>
      </p:sp>
      <p:sp>
        <p:nvSpPr>
          <p:cNvPr id="263" name="Google Shape;263;p30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SzPts val="852"/>
              <a:buNone/>
            </a:pP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Box-Jenkins Model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AA9DB9-E6E7-F04F-9326-7789ACDA7BD2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7597515" y="3111975"/>
            <a:ext cx="3699749" cy="3430343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The Metronome model combines a quadratic trend with a five-month seasonal pattern, effectively capturing both long-term movement and periodic fluctuations. It achieves lower MAE and MAPE, producing smoother and more realistic forecasts than alternative models.</a:t>
            </a:r>
          </a:p>
        </p:txBody>
      </p:sp>
      <p:sp>
        <p:nvSpPr>
          <p:cNvPr id="7" name="Google Shape;263;p30">
            <a:extLst>
              <a:ext uri="{FF2B5EF4-FFF2-40B4-BE49-F238E27FC236}">
                <a16:creationId xmlns:a16="http://schemas.microsoft.com/office/drawing/2014/main" id="{8917EFA9-3E3A-E808-F5A5-84A2B08BD8DF}"/>
              </a:ext>
            </a:extLst>
          </p:cNvPr>
          <p:cNvSpPr txBox="1">
            <a:spLocks/>
          </p:cNvSpPr>
          <p:nvPr/>
        </p:nvSpPr>
        <p:spPr>
          <a:xfrm>
            <a:off x="8009950" y="2152875"/>
            <a:ext cx="2981400" cy="959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500" b="1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 Light"/>
              <a:buNone/>
              <a:defRPr sz="28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spcAft>
                <a:spcPts val="1600"/>
              </a:spcAft>
              <a:buSzPts val="852"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Metronome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18F24E71-3A82-6B88-8AF5-98EFF054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>
            <a:extLst>
              <a:ext uri="{FF2B5EF4-FFF2-40B4-BE49-F238E27FC236}">
                <a16:creationId xmlns:a16="http://schemas.microsoft.com/office/drawing/2014/main" id="{38EEF084-DABF-7241-7BA6-47304DBAF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400" dirty="0"/>
              <a:t>3.2 WS forecast with recursive estimation &amp; OOS forecast</a:t>
            </a:r>
            <a:endParaRPr sz="2400" dirty="0"/>
          </a:p>
        </p:txBody>
      </p:sp>
      <p:sp>
        <p:nvSpPr>
          <p:cNvPr id="235" name="Google Shape;235;p27">
            <a:extLst>
              <a:ext uri="{FF2B5EF4-FFF2-40B4-BE49-F238E27FC236}">
                <a16:creationId xmlns:a16="http://schemas.microsoft.com/office/drawing/2014/main" id="{DD16843D-03D3-453D-4464-122BC945F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5575" y="2148840"/>
            <a:ext cx="8180700" cy="329487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25000" lnSpcReduction="20000"/>
          </a:bodyPr>
          <a:lstStyle/>
          <a:p>
            <a:pPr marL="571500" indent="-571500"/>
            <a:r>
              <a:rPr lang="en-US" sz="9600" b="1" dirty="0">
                <a:latin typeface="+mj-lt"/>
              </a:rPr>
              <a:t>Within Sample forecast </a:t>
            </a:r>
            <a:r>
              <a:rPr lang="en-US" sz="9600" dirty="0">
                <a:latin typeface="+mj-lt"/>
              </a:rPr>
              <a:t>is when the model is used to predict the outcome using a data point from the sample data that was used to develop and optimize the model.</a:t>
            </a:r>
          </a:p>
          <a:p>
            <a:pPr marL="571500" indent="-571500"/>
            <a:endParaRPr lang="en-US" sz="9600" dirty="0">
              <a:latin typeface="+mj-lt"/>
            </a:endParaRPr>
          </a:p>
          <a:p>
            <a:pPr marL="571500" indent="-571500"/>
            <a:r>
              <a:rPr lang="en-US" sz="9600" b="1" dirty="0">
                <a:latin typeface="+mj-lt"/>
              </a:rPr>
              <a:t>Out of Sample forecast </a:t>
            </a:r>
            <a:r>
              <a:rPr lang="en-US" sz="9600" dirty="0">
                <a:latin typeface="+mj-lt"/>
              </a:rPr>
              <a:t>is when the model is used to predict the outcome using a data point that was not a part of the sample data that was used to develop and optimize the model.</a:t>
            </a:r>
          </a:p>
          <a:p>
            <a:pPr marL="0" indent="0">
              <a:buNone/>
            </a:pPr>
            <a:endParaRPr lang="en-US" sz="38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47392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19BF3EB3-EA58-73CF-F7E0-CA4CD2ED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>
            <a:extLst>
              <a:ext uri="{FF2B5EF4-FFF2-40B4-BE49-F238E27FC236}">
                <a16:creationId xmlns:a16="http://schemas.microsoft.com/office/drawing/2014/main" id="{EC98C443-FD72-A65D-F2A5-C35EB662C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0271" y="540774"/>
            <a:ext cx="5283286" cy="576170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47500" lnSpcReduction="20000"/>
          </a:bodyPr>
          <a:lstStyle/>
          <a:p>
            <a:pPr marL="0" lvl="0" indent="0">
              <a:buClr>
                <a:srgbClr val="000000"/>
              </a:buClr>
              <a:buSzPts val="1900"/>
              <a:buNone/>
            </a:pPr>
            <a:r>
              <a:rPr lang="en-US" sz="3500" b="1" dirty="0"/>
              <a:t>4. Comparative Analysis and Model Selection</a:t>
            </a:r>
          </a:p>
          <a:p>
            <a:pPr marL="127000" indent="0">
              <a:buNone/>
            </a:pPr>
            <a:endParaRPr lang="en-US" sz="2500" dirty="0"/>
          </a:p>
          <a:p>
            <a:pPr>
              <a:lnSpc>
                <a:spcPct val="120000"/>
              </a:lnSpc>
            </a:pPr>
            <a:r>
              <a:rPr lang="en-US" sz="2500" dirty="0"/>
              <a:t>All models passed both optimality and accuracy tests, confirming statistical validity.</a:t>
            </a:r>
          </a:p>
          <a:p>
            <a:pPr>
              <a:lnSpc>
                <a:spcPct val="120000"/>
              </a:lnSpc>
            </a:pPr>
            <a:endParaRPr lang="en-US" sz="2500" dirty="0"/>
          </a:p>
          <a:p>
            <a:pPr>
              <a:lnSpc>
                <a:spcPct val="120000"/>
              </a:lnSpc>
            </a:pPr>
            <a:r>
              <a:rPr lang="en-US" sz="2500" dirty="0"/>
              <a:t>Forecast accuracy reflects the average forecast error during back testing — lower values indicate better performance.</a:t>
            </a:r>
          </a:p>
          <a:p>
            <a:pPr>
              <a:lnSpc>
                <a:spcPct val="120000"/>
              </a:lnSpc>
            </a:pPr>
            <a:endParaRPr lang="en-US" sz="2500" dirty="0"/>
          </a:p>
          <a:p>
            <a:pPr>
              <a:lnSpc>
                <a:spcPct val="120000"/>
              </a:lnSpc>
            </a:pPr>
            <a:r>
              <a:rPr lang="en-US" sz="2500" dirty="0"/>
              <a:t>Key metrics assessed:</a:t>
            </a:r>
          </a:p>
          <a:p>
            <a:pPr lvl="1">
              <a:lnSpc>
                <a:spcPct val="120000"/>
              </a:lnSpc>
            </a:pPr>
            <a:r>
              <a:rPr lang="en-US" sz="2500" dirty="0"/>
              <a:t>RMSE (Root Mean Square Error)</a:t>
            </a:r>
          </a:p>
          <a:p>
            <a:pPr lvl="1">
              <a:lnSpc>
                <a:spcPct val="120000"/>
              </a:lnSpc>
            </a:pPr>
            <a:r>
              <a:rPr lang="en-US" sz="2500" dirty="0"/>
              <a:t>MAE (Mean Absolute Error)</a:t>
            </a:r>
          </a:p>
          <a:p>
            <a:pPr lvl="1">
              <a:lnSpc>
                <a:spcPct val="120000"/>
              </a:lnSpc>
            </a:pPr>
            <a:r>
              <a:rPr lang="en-US" sz="2500" dirty="0"/>
              <a:t>MAPE (Mean Absolute Percentage Error)</a:t>
            </a:r>
          </a:p>
          <a:p>
            <a:pPr>
              <a:lnSpc>
                <a:spcPct val="120000"/>
              </a:lnSpc>
            </a:pPr>
            <a:r>
              <a:rPr lang="en-US" sz="2500" dirty="0"/>
              <a:t>Model Comparison:</a:t>
            </a:r>
          </a:p>
          <a:p>
            <a:pPr>
              <a:lnSpc>
                <a:spcPct val="120000"/>
              </a:lnSpc>
            </a:pPr>
            <a:endParaRPr lang="en-US" sz="2500" dirty="0"/>
          </a:p>
          <a:p>
            <a:pPr lvl="1">
              <a:lnSpc>
                <a:spcPct val="120000"/>
              </a:lnSpc>
            </a:pPr>
            <a:r>
              <a:rPr lang="en-US" sz="2500" dirty="0"/>
              <a:t>Both Exponential Smoothing (Model 1) and Metronome (Model 3) outperformed the ARIMA model, showing comparable accuracy.</a:t>
            </a:r>
          </a:p>
          <a:p>
            <a:pPr lvl="1">
              <a:lnSpc>
                <a:spcPct val="120000"/>
              </a:lnSpc>
            </a:pPr>
            <a:endParaRPr lang="en-US" sz="2500" dirty="0"/>
          </a:p>
          <a:p>
            <a:pPr>
              <a:lnSpc>
                <a:spcPct val="120000"/>
              </a:lnSpc>
            </a:pPr>
            <a:r>
              <a:rPr lang="en-US" sz="2500" dirty="0"/>
              <a:t>Model Selection:</a:t>
            </a:r>
          </a:p>
          <a:p>
            <a:pPr lvl="1">
              <a:lnSpc>
                <a:spcPct val="120000"/>
              </a:lnSpc>
            </a:pPr>
            <a:r>
              <a:rPr lang="en-US" sz="2500" dirty="0"/>
              <a:t>The Metronome Model (Model 3) was chosen as the official forecasting model.</a:t>
            </a:r>
          </a:p>
          <a:p>
            <a:pPr lvl="1">
              <a:lnSpc>
                <a:spcPct val="120000"/>
              </a:lnSpc>
            </a:pPr>
            <a:endParaRPr lang="en-US" sz="2500" dirty="0"/>
          </a:p>
          <a:p>
            <a:pPr>
              <a:lnSpc>
                <a:spcPct val="120000"/>
              </a:lnSpc>
            </a:pPr>
            <a:r>
              <a:rPr lang="en-US" sz="2500" dirty="0"/>
              <a:t>Rationale:</a:t>
            </a:r>
          </a:p>
          <a:p>
            <a:pPr lvl="1">
              <a:lnSpc>
                <a:spcPct val="120000"/>
              </a:lnSpc>
            </a:pPr>
            <a:r>
              <a:rPr lang="en-US" sz="2500" dirty="0"/>
              <a:t>Demonstrates stronger structural integrity and better interpretability.</a:t>
            </a:r>
          </a:p>
          <a:p>
            <a:pPr lvl="1">
              <a:lnSpc>
                <a:spcPct val="120000"/>
              </a:lnSpc>
            </a:pPr>
            <a:r>
              <a:rPr lang="en-US" sz="2500" dirty="0"/>
              <a:t>Captures the quadratic trend and five-month seasonal cycle, providing a clear economic rationale and more reliable forecasts.</a:t>
            </a:r>
          </a:p>
          <a:p>
            <a:pPr marL="127000" indent="0">
              <a:buNone/>
            </a:pP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6CDD6-1D70-2941-B738-BBF9771D5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448705"/>
              </p:ext>
            </p:extLst>
          </p:nvPr>
        </p:nvGraphicFramePr>
        <p:xfrm>
          <a:off x="6096000" y="4553712"/>
          <a:ext cx="6039976" cy="2109277"/>
        </p:xfrm>
        <a:graphic>
          <a:graphicData uri="http://schemas.openxmlformats.org/drawingml/2006/table">
            <a:tbl>
              <a:tblPr/>
              <a:tblGrid>
                <a:gridCol w="1289433">
                  <a:extLst>
                    <a:ext uri="{9D8B030D-6E8A-4147-A177-3AD203B41FA5}">
                      <a16:colId xmlns:a16="http://schemas.microsoft.com/office/drawing/2014/main" val="3500948301"/>
                    </a:ext>
                  </a:extLst>
                </a:gridCol>
                <a:gridCol w="1628758">
                  <a:extLst>
                    <a:ext uri="{9D8B030D-6E8A-4147-A177-3AD203B41FA5}">
                      <a16:colId xmlns:a16="http://schemas.microsoft.com/office/drawing/2014/main" val="1791318128"/>
                    </a:ext>
                  </a:extLst>
                </a:gridCol>
                <a:gridCol w="1458595">
                  <a:extLst>
                    <a:ext uri="{9D8B030D-6E8A-4147-A177-3AD203B41FA5}">
                      <a16:colId xmlns:a16="http://schemas.microsoft.com/office/drawing/2014/main" val="3766295577"/>
                    </a:ext>
                  </a:extLst>
                </a:gridCol>
                <a:gridCol w="1663190">
                  <a:extLst>
                    <a:ext uri="{9D8B030D-6E8A-4147-A177-3AD203B41FA5}">
                      <a16:colId xmlns:a16="http://schemas.microsoft.com/office/drawing/2014/main" val="4036112164"/>
                    </a:ext>
                  </a:extLst>
                </a:gridCol>
              </a:tblGrid>
              <a:tr h="69284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Root Mean Square Error (RMSE)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Mean Absolute Error (MAE)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Mean Absolute Pct Error (MAPE)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666315"/>
                  </a:ext>
                </a:extLst>
              </a:tr>
              <a:tr h="359694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1: ES</a:t>
                      </a:r>
                      <a:endParaRPr lang="en-US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1499.40</a:t>
                      </a:r>
                      <a:endParaRPr lang="en-US" b="1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1322.31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3.77%</a:t>
                      </a:r>
                      <a:endParaRPr lang="en-US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702646"/>
                  </a:ext>
                </a:extLst>
              </a:tr>
              <a:tr h="508461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2: ARIMA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1923.42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1600.79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4.58%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84174"/>
                  </a:ext>
                </a:extLst>
              </a:tr>
              <a:tr h="54827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3: Metronome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1695.49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1318.26</a:t>
                      </a:r>
                      <a:endParaRPr lang="en-US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3.69%</a:t>
                      </a:r>
                      <a:endParaRPr lang="en-US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69347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F2AEFE-7122-DA16-20C5-41765DC63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085193"/>
              </p:ext>
            </p:extLst>
          </p:nvPr>
        </p:nvGraphicFramePr>
        <p:xfrm>
          <a:off x="6095999" y="138790"/>
          <a:ext cx="6039977" cy="4305390"/>
        </p:xfrm>
        <a:graphic>
          <a:graphicData uri="http://schemas.openxmlformats.org/drawingml/2006/table">
            <a:tbl>
              <a:tblPr firstRow="1" bandRow="1">
                <a:tableStyleId>{40AFF10B-D97B-4233-A62F-54690619B622}</a:tableStyleId>
              </a:tblPr>
              <a:tblGrid>
                <a:gridCol w="1523224">
                  <a:extLst>
                    <a:ext uri="{9D8B030D-6E8A-4147-A177-3AD203B41FA5}">
                      <a16:colId xmlns:a16="http://schemas.microsoft.com/office/drawing/2014/main" val="2609487598"/>
                    </a:ext>
                  </a:extLst>
                </a:gridCol>
                <a:gridCol w="1737200">
                  <a:extLst>
                    <a:ext uri="{9D8B030D-6E8A-4147-A177-3AD203B41FA5}">
                      <a16:colId xmlns:a16="http://schemas.microsoft.com/office/drawing/2014/main" val="3324736384"/>
                    </a:ext>
                  </a:extLst>
                </a:gridCol>
                <a:gridCol w="1042353">
                  <a:extLst>
                    <a:ext uri="{9D8B030D-6E8A-4147-A177-3AD203B41FA5}">
                      <a16:colId xmlns:a16="http://schemas.microsoft.com/office/drawing/2014/main" val="1188469958"/>
                    </a:ext>
                  </a:extLst>
                </a:gridCol>
                <a:gridCol w="1737200">
                  <a:extLst>
                    <a:ext uri="{9D8B030D-6E8A-4147-A177-3AD203B41FA5}">
                      <a16:colId xmlns:a16="http://schemas.microsoft.com/office/drawing/2014/main" val="4156919873"/>
                    </a:ext>
                  </a:extLst>
                </a:gridCol>
              </a:tblGrid>
              <a:tr h="3933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Statistic Value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Significance Level (P-value)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0184799"/>
                  </a:ext>
                </a:extLst>
              </a:tr>
              <a:tr h="3933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1: 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Mincer-Zarmowitz Rationality test 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2.93595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0.08201006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2107931"/>
                  </a:ext>
                </a:extLst>
              </a:tr>
              <a:tr h="3554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SIGN test 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0.852803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0.39376863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21128649"/>
                  </a:ext>
                </a:extLst>
              </a:tr>
              <a:tr h="3933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Pesaran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Timmerman test with variations 1 (PT)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3.122183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0.00179515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7131114"/>
                  </a:ext>
                </a:extLst>
              </a:tr>
              <a:tr h="3933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2: Box-Jenkins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Mincer-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Zarmowitz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Rationality test 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0.72503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0.49955736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28827909"/>
                  </a:ext>
                </a:extLst>
              </a:tr>
              <a:tr h="3554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SIGN test 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-1.2792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0.20082512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92212604"/>
                  </a:ext>
                </a:extLst>
              </a:tr>
              <a:tr h="5407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Pesaran Timmerman test with variations 2 (PT)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2.596371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0.00942144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637986"/>
                  </a:ext>
                </a:extLst>
              </a:tr>
              <a:tr h="584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3: Metronome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Mincer-Zarmowitz Rationality test 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0.24478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0.78575911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62332117"/>
                  </a:ext>
                </a:extLst>
              </a:tr>
              <a:tr h="3554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SIGN test 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1.279204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0.20082512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60015051"/>
                  </a:ext>
                </a:extLst>
              </a:tr>
              <a:tr h="5407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Pesaran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Timmerman test with variations (PT) 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2.640235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0.00828485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8611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300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76078E17-9F17-142E-C177-EB1578AB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713B88-86B6-BDCB-2847-801A50C4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5. Model Selection for forecasting.</a:t>
            </a:r>
            <a:br>
              <a:rPr lang="en-US" dirty="0"/>
            </a:br>
            <a:endParaRPr lang="en-US" dirty="0"/>
          </a:p>
        </p:txBody>
      </p:sp>
      <p:sp>
        <p:nvSpPr>
          <p:cNvPr id="242" name="Google Shape;242;p28">
            <a:extLst>
              <a:ext uri="{FF2B5EF4-FFF2-40B4-BE49-F238E27FC236}">
                <a16:creationId xmlns:a16="http://schemas.microsoft.com/office/drawing/2014/main" id="{5A752841-71DC-8D5C-DEEE-BCBCAD07AB2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1371" y="1396181"/>
            <a:ext cx="4892577" cy="507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It is recommended to adopt the "Metronome" (Model 3) for future forecasting activities.</a:t>
            </a:r>
          </a:p>
          <a:p>
            <a:endParaRPr lang="en-US" dirty="0"/>
          </a:p>
          <a:p>
            <a:r>
              <a:rPr lang="en-US" dirty="0"/>
              <a:t>Superior accuracy: Achieved the lowest MAE and MAPE, proving its forecasts were closest to actual outcomes.</a:t>
            </a:r>
          </a:p>
          <a:p>
            <a:endParaRPr lang="en-US" dirty="0"/>
          </a:p>
          <a:p>
            <a:r>
              <a:rPr lang="en-US" dirty="0"/>
              <a:t>Statistical reliability: Back testing confirms unbiased forecasts with strong directional accuracy, showing it can anticipate trends effectively.</a:t>
            </a:r>
          </a:p>
          <a:p>
            <a:endParaRPr lang="en-US" dirty="0"/>
          </a:p>
          <a:p>
            <a:r>
              <a:rPr lang="en-US" dirty="0"/>
              <a:t>Interpretability: Its hybrid structure integrates trend and seasonality transparently, allowing easy understanding and adjustment to business changes.</a:t>
            </a:r>
          </a:p>
          <a:p>
            <a:endParaRPr lang="en-US" dirty="0"/>
          </a:p>
          <a:p>
            <a:r>
              <a:rPr lang="en-US" dirty="0"/>
              <a:t>Balanced Performance &amp; Practicality: Although the ES model captures some unique data, the “Metronome” model’s superior accuracy, lack of bias, and interpretability make it the most robust and practical choice for strategic planning.</a:t>
            </a:r>
          </a:p>
          <a:p>
            <a:pPr marL="12700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10" name="Picture 9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277D34EE-1DA0-7651-81EF-A48E0BDD6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606" y="961848"/>
            <a:ext cx="7069394" cy="536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1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EDAF51F1-9312-0231-F530-D81CF531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FB8831-0ED2-9543-288B-0F46AD41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6. Forecasting Results.</a:t>
            </a:r>
            <a:endParaRPr lang="en-US" dirty="0"/>
          </a:p>
        </p:txBody>
      </p:sp>
      <p:sp>
        <p:nvSpPr>
          <p:cNvPr id="242" name="Google Shape;242;p28">
            <a:extLst>
              <a:ext uri="{FF2B5EF4-FFF2-40B4-BE49-F238E27FC236}">
                <a16:creationId xmlns:a16="http://schemas.microsoft.com/office/drawing/2014/main" id="{6738ACAA-52E2-8917-2653-4A76C29E15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1371" y="1396181"/>
            <a:ext cx="4892577" cy="507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127000" indent="0">
              <a:buNone/>
            </a:pPr>
            <a:r>
              <a:rPr lang="en-US" b="1" dirty="0"/>
              <a:t>Understanding Forecast Uncertainty</a:t>
            </a:r>
          </a:p>
          <a:p>
            <a:r>
              <a:rPr lang="en-US" dirty="0"/>
              <a:t>A forecast is not a single, fixed number — it represents the most likely outcome within a range.</a:t>
            </a:r>
          </a:p>
          <a:p>
            <a:r>
              <a:rPr lang="en-US" dirty="0"/>
              <a:t>This range is captured by Prediction Interval (PI), which express the degree of confidence in the forecast.</a:t>
            </a:r>
          </a:p>
          <a:p>
            <a:r>
              <a:rPr lang="en-US" dirty="0"/>
              <a:t>For example, a 95% Prediction Interval means we are 95% confident the actual value will fall within that range.</a:t>
            </a:r>
          </a:p>
          <a:p>
            <a:r>
              <a:rPr lang="en-US" dirty="0"/>
              <a:t>PI account for:</a:t>
            </a:r>
          </a:p>
          <a:p>
            <a:pPr lvl="1"/>
            <a:r>
              <a:rPr lang="en-US" dirty="0"/>
              <a:t>Unpredictable future shocks to the economy</a:t>
            </a:r>
          </a:p>
          <a:p>
            <a:pPr lvl="1"/>
            <a:r>
              <a:rPr lang="en-US" dirty="0"/>
              <a:t>Uncertainty in the model’s estimated parameters.</a:t>
            </a:r>
          </a:p>
          <a:p>
            <a:r>
              <a:rPr lang="en-US" dirty="0"/>
              <a:t>The interval widens over time. It indicates increasing uncertainty in long-term projections. </a:t>
            </a:r>
          </a:p>
          <a:p>
            <a:pPr marL="584200" lvl="1" indent="0">
              <a:buNone/>
            </a:pP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Our confidence in precise future values decreases as we look further ahead. </a:t>
            </a:r>
            <a:endParaRPr lang="en-US" dirty="0"/>
          </a:p>
        </p:txBody>
      </p:sp>
      <p:pic>
        <p:nvPicPr>
          <p:cNvPr id="6" name="Picture 5" descr="A computer screen with a black background&#10;&#10;AI-generated content may be incorrect.">
            <a:extLst>
              <a:ext uri="{FF2B5EF4-FFF2-40B4-BE49-F238E27FC236}">
                <a16:creationId xmlns:a16="http://schemas.microsoft.com/office/drawing/2014/main" id="{C152232F-9706-16B5-FDAE-FF2A2444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270" y="995478"/>
            <a:ext cx="7261730" cy="531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4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400" dirty="0"/>
              <a:t>18-Month Out-of-Sample Forecast</a:t>
            </a:r>
            <a:endParaRPr sz="2400" dirty="0"/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C9FF2E-E98D-8143-A8D9-7A0728F77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50" y="1153367"/>
            <a:ext cx="11152573" cy="43945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8AF0D6-33DB-8913-F3A2-4C8C0FE34BEF}"/>
              </a:ext>
            </a:extLst>
          </p:cNvPr>
          <p:cNvSpPr txBox="1"/>
          <p:nvPr/>
        </p:nvSpPr>
        <p:spPr>
          <a:xfrm>
            <a:off x="415650" y="5547896"/>
            <a:ext cx="60977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/>
              <a:t>The following graph presents the 18-month out-of-sample forecast generated by the recommended "Metronome" model, from August 2025 to January 2027. It includes the point forecast along with the 95% lower and upper prediction bounds.</a:t>
            </a:r>
            <a:br>
              <a:rPr lang="en-US" sz="1400" b="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"/>
          <p:cNvSpPr txBox="1">
            <a:spLocks noGrp="1"/>
          </p:cNvSpPr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6. Conclusion</a:t>
            </a:r>
            <a:endParaRPr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F90CF5-2516-E8D0-179B-9D2CBDA9D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3700" y="2229736"/>
            <a:ext cx="9444600" cy="387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7000" indent="0">
              <a:buNone/>
            </a:pPr>
            <a:r>
              <a:rPr lang="en-US" sz="1800" b="1" dirty="0"/>
              <a:t>→ The forecast suggests a drop, so preparing for lower revenue, reduced production, or inventory adjustments are necessary.</a:t>
            </a:r>
          </a:p>
          <a:p>
            <a:pPr marL="584200" lvl="1" indent="0">
              <a:buNone/>
            </a:pPr>
            <a:endParaRPr lang="en-US" sz="1800" dirty="0"/>
          </a:p>
          <a:p>
            <a:pPr marL="127000" indent="0">
              <a:buNone/>
            </a:pPr>
            <a:r>
              <a:rPr lang="en-US" sz="1800" dirty="0"/>
              <a:t>Here are some 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Short-term:</a:t>
            </a:r>
            <a:r>
              <a:rPr lang="en-US" sz="1800" dirty="0"/>
              <a:t> Monitor indicators closely and respond to any rebound signals 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Medium-term:</a:t>
            </a:r>
            <a:r>
              <a:rPr lang="en-US" sz="1800" dirty="0"/>
              <a:t> Plan for resource optimization — reduce unnecessary spending or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Long-term:</a:t>
            </a:r>
            <a:r>
              <a:rPr lang="en-US" sz="1800" dirty="0"/>
              <a:t> Investigate </a:t>
            </a:r>
            <a:r>
              <a:rPr lang="en-US" sz="1800" b="1" dirty="0"/>
              <a:t>root causes</a:t>
            </a:r>
            <a:r>
              <a:rPr lang="en-US" sz="1800" dirty="0"/>
              <a:t> of the decline (market trends, competition, external shocks).</a:t>
            </a:r>
          </a:p>
          <a:p>
            <a:pPr marL="127000" indent="0">
              <a:buNone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BC67B5-E245-B315-9888-0366611C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Appendix </a:t>
            </a:r>
          </a:p>
        </p:txBody>
      </p:sp>
      <p:pic>
        <p:nvPicPr>
          <p:cNvPr id="6" name="Picture 5" descr="Blue rectangles on a black background&#10;&#10;AI-generated content may be incorrect.">
            <a:extLst>
              <a:ext uri="{FF2B5EF4-FFF2-40B4-BE49-F238E27FC236}">
                <a16:creationId xmlns:a16="http://schemas.microsoft.com/office/drawing/2014/main" id="{D7FEA39D-8C32-5BE1-8037-7F8A5223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3" y="1153367"/>
            <a:ext cx="5100558" cy="1893115"/>
          </a:xfrm>
          <a:prstGeom prst="rect">
            <a:avLst/>
          </a:prstGeom>
        </p:spPr>
      </p:pic>
      <p:pic>
        <p:nvPicPr>
          <p:cNvPr id="8" name="Picture 7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1F80493A-FCD0-2370-E748-FED5D58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559" y="1153367"/>
            <a:ext cx="5100558" cy="1893115"/>
          </a:xfrm>
          <a:prstGeom prst="rect">
            <a:avLst/>
          </a:prstGeom>
        </p:spPr>
      </p:pic>
      <p:pic>
        <p:nvPicPr>
          <p:cNvPr id="12" name="Picture 11" descr="Blue squares on a black background&#10;&#10;AI-generated content may be incorrect.">
            <a:extLst>
              <a:ext uri="{FF2B5EF4-FFF2-40B4-BE49-F238E27FC236}">
                <a16:creationId xmlns:a16="http://schemas.microsoft.com/office/drawing/2014/main" id="{FF28FCA4-5EBD-873D-BF2E-73C932250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03" y="3180508"/>
            <a:ext cx="5100558" cy="1893115"/>
          </a:xfrm>
          <a:prstGeom prst="rect">
            <a:avLst/>
          </a:prstGeom>
        </p:spPr>
      </p:pic>
      <p:pic>
        <p:nvPicPr>
          <p:cNvPr id="14" name="Picture 13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DA91CE1E-B20B-7324-F404-C191AD992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559" y="3180507"/>
            <a:ext cx="5100558" cy="189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3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1337-342D-AEB2-462A-A14A6BE0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8FDEB3-2373-EB1B-693A-A48E253B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Forecast 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0E560D-F7A2-19AB-EB97-9B5F6E7B5DA7}"/>
              </a:ext>
            </a:extLst>
          </p:cNvPr>
          <p:cNvSpPr txBox="1"/>
          <p:nvPr/>
        </p:nvSpPr>
        <p:spPr>
          <a:xfrm>
            <a:off x="1494501" y="1336119"/>
            <a:ext cx="823943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                            Entry	          LOWER95         	       </a:t>
            </a:r>
            <a:r>
              <a:rPr lang="en-US" dirty="0"/>
              <a:t>Forecast Result</a:t>
            </a:r>
            <a:r>
              <a:rPr lang="en-US" sz="1400" dirty="0"/>
              <a:t>	          UPPER95	</a:t>
            </a:r>
          </a:p>
          <a:p>
            <a:pPr algn="r"/>
            <a:r>
              <a:rPr lang="en-US" sz="1400" dirty="0"/>
              <a:t>2025:08	32342.696687	35686.493899	39030.291110	</a:t>
            </a:r>
          </a:p>
          <a:p>
            <a:pPr algn="r"/>
            <a:r>
              <a:rPr lang="en-US" sz="1400" dirty="0"/>
              <a:t>2025:09	29750.571538	33399.273621	37047.975703	</a:t>
            </a:r>
          </a:p>
          <a:p>
            <a:pPr algn="r"/>
            <a:r>
              <a:rPr lang="en-US" sz="1400" dirty="0"/>
              <a:t>2025:10	31007.747102	34688.968197	38370.189292	</a:t>
            </a:r>
          </a:p>
          <a:p>
            <a:pPr algn="r"/>
            <a:r>
              <a:rPr lang="en-US" sz="1400" dirty="0"/>
              <a:t>2025:11	27959.609733	32032.114852	36104.619972	</a:t>
            </a:r>
          </a:p>
          <a:p>
            <a:pPr algn="r"/>
            <a:r>
              <a:rPr lang="en-US" sz="1400" dirty="0"/>
              <a:t>2025:12	25605.860700	29840.012700	34074.164699	</a:t>
            </a:r>
          </a:p>
          <a:p>
            <a:pPr algn="r"/>
            <a:r>
              <a:rPr lang="en-US" sz="1400" dirty="0"/>
              <a:t>2026:01	22239.122471	26636.326411	31033.530350	</a:t>
            </a:r>
          </a:p>
          <a:p>
            <a:pPr algn="r"/>
            <a:r>
              <a:rPr lang="en-US" sz="1400" dirty="0"/>
              <a:t>2026:02	21002.568098	25600.647943	30198.727788	</a:t>
            </a:r>
          </a:p>
          <a:p>
            <a:pPr algn="r"/>
            <a:r>
              <a:rPr lang="en-US" sz="1400" dirty="0"/>
              <a:t>2026:03	27482.250886	32240.764579	36999.278272	</a:t>
            </a:r>
          </a:p>
          <a:p>
            <a:pPr algn="r"/>
            <a:r>
              <a:rPr lang="en-US" sz="1400" dirty="0"/>
              <a:t>2026:04	29446.510946	34369.172562	39291.834178	</a:t>
            </a:r>
          </a:p>
          <a:p>
            <a:pPr algn="r"/>
            <a:r>
              <a:rPr lang="en-US" sz="1400" dirty="0"/>
              <a:t>2026:05	32268.270682	37352.610607	42436.950532	</a:t>
            </a:r>
          </a:p>
          <a:p>
            <a:pPr algn="r"/>
            <a:r>
              <a:rPr lang="en-US" sz="1400" dirty="0"/>
              <a:t>2026:06	30041.794953	35278.315312	40514.835672	</a:t>
            </a:r>
          </a:p>
          <a:p>
            <a:pPr algn="r"/>
            <a:r>
              <a:rPr lang="en-US" sz="1400" dirty="0"/>
              <a:t>2026:07	28222.501882	33609.161774	38995.821667	</a:t>
            </a:r>
          </a:p>
          <a:p>
            <a:pPr algn="r"/>
            <a:r>
              <a:rPr lang="en-US" sz="1400" dirty="0"/>
              <a:t>2026:08	27024.333316	32654.078239	38283.823162	</a:t>
            </a:r>
          </a:p>
          <a:p>
            <a:pPr algn="r"/>
            <a:r>
              <a:rPr lang="en-US" sz="1400" dirty="0"/>
              <a:t>2026:09	24428.562904	30235.422886	36042.282869	</a:t>
            </a:r>
          </a:p>
          <a:p>
            <a:pPr algn="r"/>
            <a:r>
              <a:rPr lang="en-US" sz="1400" dirty="0"/>
              <a:t>2026:10	25138.068796	31092.228719	37046.388641	</a:t>
            </a:r>
          </a:p>
          <a:p>
            <a:pPr algn="r"/>
            <a:r>
              <a:rPr lang="en-US" sz="1400" dirty="0"/>
              <a:t>2026:11	22438.176044	28567.774171	34697.372299	</a:t>
            </a:r>
          </a:p>
          <a:p>
            <a:pPr algn="r"/>
            <a:r>
              <a:rPr lang="en-US" sz="1400" dirty="0"/>
              <a:t>2026:12	19918.217112	26203.570032	32488.922952	</a:t>
            </a:r>
          </a:p>
          <a:p>
            <a:pPr algn="r"/>
            <a:r>
              <a:rPr lang="en-US" sz="1400" dirty="0"/>
              <a:t>2027:01	16431.280173	22869.347638	29307.415104	</a:t>
            </a:r>
          </a:p>
        </p:txBody>
      </p:sp>
    </p:spTree>
    <p:extLst>
      <p:ext uri="{BB962C8B-B14F-4D97-AF65-F5344CB8AC3E}">
        <p14:creationId xmlns:p14="http://schemas.microsoft.com/office/powerpoint/2010/main" val="379374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>
            <a:spLocks noGrp="1"/>
          </p:cNvSpPr>
          <p:nvPr>
            <p:ph type="title"/>
          </p:nvPr>
        </p:nvSpPr>
        <p:spPr>
          <a:xfrm>
            <a:off x="1776600" y="2552250"/>
            <a:ext cx="8638800" cy="17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000000"/>
      </a:dk1>
      <a:lt1>
        <a:srgbClr val="F3F1EC"/>
      </a:lt1>
      <a:dk2>
        <a:srgbClr val="000000"/>
      </a:dk2>
      <a:lt2>
        <a:srgbClr val="EEEEEE"/>
      </a:lt2>
      <a:accent1>
        <a:srgbClr val="1C1B1A"/>
      </a:accent1>
      <a:accent2>
        <a:srgbClr val="6C6B68"/>
      </a:accent2>
      <a:accent3>
        <a:srgbClr val="A5A4A2"/>
      </a:accent3>
      <a:accent4>
        <a:srgbClr val="CDCCCA"/>
      </a:accent4>
      <a:accent5>
        <a:srgbClr val="F5F1EC"/>
      </a:accent5>
      <a:accent6>
        <a:srgbClr val="FFFFFF"/>
      </a:accent6>
      <a:hlink>
        <a:srgbClr val="A5A4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1230</Words>
  <Application>Microsoft Office PowerPoint</Application>
  <PresentationFormat>Widescreen</PresentationFormat>
  <Paragraphs>163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Poppins Light</vt:lpstr>
      <vt:lpstr>Calibri</vt:lpstr>
      <vt:lpstr>Poppins</vt:lpstr>
      <vt:lpstr>Wingdings</vt:lpstr>
      <vt:lpstr>Arial</vt:lpstr>
      <vt:lpstr>SlidesMania Template</vt:lpstr>
      <vt:lpstr>Forecasting Analysis Report Sample : MRTSSM4441USN</vt:lpstr>
      <vt:lpstr>1) Introduction &amp; Objective</vt:lpstr>
      <vt:lpstr>PowerPoint Presentation</vt:lpstr>
      <vt:lpstr>3.1) The three models used.</vt:lpstr>
      <vt:lpstr>3.2 WS forecast with recursive estimation &amp; OOS forecast</vt:lpstr>
      <vt:lpstr>PowerPoint Presentation</vt:lpstr>
      <vt:lpstr>5. Model Selection for forecasting. </vt:lpstr>
      <vt:lpstr>6. Forecasting Results.</vt:lpstr>
      <vt:lpstr>18-Month Out-of-Sample Forecast</vt:lpstr>
      <vt:lpstr>6. Conclusion</vt:lpstr>
      <vt:lpstr>Appendix </vt:lpstr>
      <vt:lpstr>Forecast 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Đàm Phúc Anh</cp:lastModifiedBy>
  <cp:revision>11</cp:revision>
  <dcterms:modified xsi:type="dcterms:W3CDTF">2025-11-07T04:39:57Z</dcterms:modified>
</cp:coreProperties>
</file>